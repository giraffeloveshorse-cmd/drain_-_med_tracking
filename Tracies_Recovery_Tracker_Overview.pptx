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91440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25603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F1419"/>
                </a:solidFill>
                <a:latin typeface="Calibri"/>
              </a:rPr>
              <a:t>Tracie's Recovery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71767B"/>
                </a:solidFill>
                <a:latin typeface="Calibri"/>
              </a:rPr>
              <a:t>A Privacy-First PWA for Post-Surgical Recovery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0624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D9BF0"/>
                </a:solidFill>
                <a:latin typeface="Calibri"/>
              </a:rPr>
              <a:t>Lankenau Medical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67B"/>
                </a:solidFill>
                <a:latin typeface="Calibri"/>
              </a:defRPr>
            </a:pPr>
            <a:r>
              <a:t>Tracie's Recovery Tracker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767B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F1419"/>
                </a:solidFill>
                <a:latin typeface="Calibr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F26"/>
                </a:solidFill>
                <a:latin typeface="Calibri"/>
              </a:rPr>
              <a:t>•  Post-surgical patients must track drain output volumes, fluid color changes, and multiple medications with different dosing intervals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6"/>
                </a:solidFill>
                <a:latin typeface="Calibri"/>
              </a:rPr>
              <a:t>•  Paper logs are easy to lose, hard to share with providers, and lack timing reminders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6"/>
                </a:solidFill>
                <a:latin typeface="Calibri"/>
              </a:rPr>
              <a:t>•  A dedicated native app is overkill for a temporary recovery period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389120"/>
            <a:ext cx="9418320" cy="10972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D9BF0"/>
                </a:solidFill>
                <a:latin typeface="Calibri"/>
              </a:rPr>
              <a:t>Goal: A zero-install, offline-capable tool that works immediately on any 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67B"/>
                </a:solidFill>
                <a:latin typeface="Calibri"/>
              </a:defRPr>
            </a:pPr>
            <a:r>
              <a:t>Tracie's Recovery 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767B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F1419"/>
                </a:solidFill>
                <a:latin typeface="Calibri"/>
              </a:rPr>
              <a:t>Single-File PWA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6"/>
                </a:solidFill>
                <a:latin typeface="Calibri"/>
              </a:rPr>
              <a:t>•  Single index.html file — no build step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6"/>
                </a:solidFill>
                <a:latin typeface="Calibri"/>
              </a:rPr>
              <a:t>•  React 18 loaded via CDN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6"/>
                </a:solidFill>
                <a:latin typeface="Calibri"/>
              </a:rPr>
              <a:t>•  Service Worker for offline caching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6"/>
                </a:solidFill>
                <a:latin typeface="Calibri"/>
              </a:rPr>
              <a:t>•  localStorage for all data (privacy-first)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6"/>
                </a:solidFill>
                <a:latin typeface="Calibri"/>
              </a:rPr>
              <a:t>•  Installable on home screen (iOS / Android)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6"/>
                </a:solidFill>
                <a:latin typeface="Calibri"/>
              </a:rPr>
              <a:t>•  Free hosting on GitHub Pages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463040"/>
            <a:ext cx="3108960" cy="914400"/>
          </a:xfrm>
          <a:prstGeom prst="roundRect">
            <a:avLst/>
          </a:prstGeom>
          <a:solidFill>
            <a:srgbClr val="1D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index.html
React 18 + CSS + JS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200400"/>
            <a:ext cx="2011680" cy="73152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419"/>
                </a:solidFill>
                <a:latin typeface="Calibri"/>
              </a:rPr>
              <a:t>localStorage
(Patient Data)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3200400"/>
            <a:ext cx="2011680" cy="73152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419"/>
                </a:solidFill>
                <a:latin typeface="Calibri"/>
              </a:rPr>
              <a:t>sw.js
(Offline Cache)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4572000"/>
            <a:ext cx="2286000" cy="73152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419"/>
                </a:solidFill>
                <a:latin typeface="Calibri"/>
              </a:rPr>
              <a:t>manifest.json
(PWA Install)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7406640" y="2377440"/>
            <a:ext cx="640080" cy="822960"/>
          </a:xfrm>
          <a:prstGeom prst="line">
            <a:avLst/>
          </a:prstGeom>
          <a:ln w="19050">
            <a:solidFill>
              <a:srgbClr val="7176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326880" y="2377440"/>
            <a:ext cx="365760" cy="822960"/>
          </a:xfrm>
          <a:prstGeom prst="line">
            <a:avLst/>
          </a:prstGeom>
          <a:ln w="19050">
            <a:solidFill>
              <a:srgbClr val="7176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86800" y="2377440"/>
            <a:ext cx="0" cy="2194560"/>
          </a:xfrm>
          <a:prstGeom prst="line">
            <a:avLst/>
          </a:prstGeom>
          <a:ln w="19050">
            <a:solidFill>
              <a:srgbClr val="7176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67B"/>
                </a:solidFill>
                <a:latin typeface="Calibri"/>
              </a:defRPr>
            </a:pPr>
            <a:r>
              <a:t>Tracie's Recovery Tracker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767B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F1419"/>
                </a:solidFill>
                <a:latin typeface="Calibri"/>
              </a:rPr>
              <a:t>Drain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71767B"/>
                </a:solidFill>
                <a:latin typeface="Calibri"/>
              </a:rPr>
              <a:t>3 JP drains  •  Volume in ml  •  Fluid color  •  Timestamped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6"/>
                </a:solidFill>
                <a:latin typeface="Calibri"/>
              </a:rPr>
              <a:t>•  Select drain (#1, #2, or #3) with large tap targets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6"/>
                </a:solidFill>
                <a:latin typeface="Calibri"/>
              </a:rPr>
              <a:t>•  Quick-fill volume buttons: +5, +10, +15, +20, +25, +30 ml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6"/>
                </a:solidFill>
                <a:latin typeface="Calibri"/>
              </a:rPr>
              <a:t>•  6-color fluid palette maps appearance to healing stage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6"/>
                </a:solidFill>
                <a:latin typeface="Calibri"/>
              </a:rPr>
              <a:t>•  Optional notes field for each entry</a:t>
            </a:r>
          </a:p>
        </p:txBody>
      </p:sp>
      <p:sp>
        <p:nvSpPr>
          <p:cNvPr id="6" name="Oval 5"/>
          <p:cNvSpPr/>
          <p:nvPr/>
        </p:nvSpPr>
        <p:spPr>
          <a:xfrm>
            <a:off x="6858000" y="2011680"/>
            <a:ext cx="502920" cy="502920"/>
          </a:xfrm>
          <a:prstGeom prst="ellipse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2560320"/>
            <a:ext cx="777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1767B"/>
                </a:solidFill>
                <a:latin typeface="Calibri"/>
              </a:rPr>
              <a:t>Dark Red</a:t>
            </a:r>
          </a:p>
        </p:txBody>
      </p:sp>
      <p:sp>
        <p:nvSpPr>
          <p:cNvPr id="8" name="Oval 7"/>
          <p:cNvSpPr/>
          <p:nvPr/>
        </p:nvSpPr>
        <p:spPr>
          <a:xfrm>
            <a:off x="7498079" y="2011680"/>
            <a:ext cx="502920" cy="5029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19" y="2560320"/>
            <a:ext cx="777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1767B"/>
                </a:solidFill>
                <a:latin typeface="Calibri"/>
              </a:rPr>
              <a:t>Bright Red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2011680"/>
            <a:ext cx="502920" cy="50292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2560320"/>
            <a:ext cx="777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1767B"/>
                </a:solidFill>
                <a:latin typeface="Calibri"/>
              </a:rPr>
              <a:t>Pink</a:t>
            </a:r>
          </a:p>
        </p:txBody>
      </p:sp>
      <p:sp>
        <p:nvSpPr>
          <p:cNvPr id="12" name="Oval 11"/>
          <p:cNvSpPr/>
          <p:nvPr/>
        </p:nvSpPr>
        <p:spPr>
          <a:xfrm>
            <a:off x="8778240" y="2011680"/>
            <a:ext cx="502920" cy="5029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2560320"/>
            <a:ext cx="777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1767B"/>
                </a:solidFill>
                <a:latin typeface="Calibri"/>
              </a:rPr>
              <a:t>Amber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0" y="2011680"/>
            <a:ext cx="502920" cy="50292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2560320"/>
            <a:ext cx="777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1767B"/>
                </a:solidFill>
                <a:latin typeface="Calibri"/>
              </a:rPr>
              <a:t>Yellow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0" y="2011680"/>
            <a:ext cx="502920" cy="502920"/>
          </a:xfrm>
          <a:prstGeom prst="ellipse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2560320"/>
            <a:ext cx="777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1767B"/>
                </a:solidFill>
                <a:latin typeface="Calibri"/>
              </a:rPr>
              <a:t>Clear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3200400"/>
            <a:ext cx="4754880" cy="256032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F26"/>
                </a:solidFill>
                <a:latin typeface="Calibri"/>
              </a:rPr>
              <a:t>Color Guide
Dark Red → Fresh bleeding (normal early)
Bright Red → Active bleeding
Pink → Improving drainage
Amber → Healing in progress
Yellow → Near resolution
Clear → Fully healed drainage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67B"/>
                </a:solidFill>
                <a:latin typeface="Calibri"/>
              </a:defRPr>
            </a:pPr>
            <a:r>
              <a:t>Tracie's Recovery Tracker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767B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F1419"/>
                </a:solidFill>
                <a:latin typeface="Calibri"/>
              </a:rPr>
              <a:t>Medication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71767B"/>
                </a:solidFill>
                <a:latin typeface="Calibri"/>
              </a:rPr>
              <a:t>Interval timers with safety lockouts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256032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32918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20240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F1419"/>
                </a:solidFill>
                <a:latin typeface="Calibri"/>
              </a:rPr>
              <a:t>Oxycodone 5mg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PRN (as needed)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71767B"/>
                </a:solidFill>
                <a:latin typeface="Calibri"/>
              </a:rPr>
              <a:t>4-hour interval</a:t>
            </a:r>
          </a:p>
          <a:p>
            <a:r>
              <a:rPr sz="1300" b="0">
                <a:solidFill>
                  <a:srgbClr val="1A1F26"/>
                </a:solidFill>
                <a:latin typeface="Calibri"/>
              </a:rPr>
              <a:t>Pain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45920"/>
            <a:ext cx="3291840" cy="256032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645920"/>
            <a:ext cx="3291840" cy="73152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920240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F1419"/>
                </a:solidFill>
                <a:latin typeface="Calibri"/>
              </a:rPr>
              <a:t>Cefadroxil 500mg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D9BF0"/>
                </a:solidFill>
                <a:latin typeface="Calibri"/>
              </a:rPr>
              <a:t>Scheduled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71767B"/>
                </a:solidFill>
                <a:latin typeface="Calibri"/>
              </a:rPr>
              <a:t>12-hour interval</a:t>
            </a:r>
          </a:p>
          <a:p>
            <a:r>
              <a:rPr sz="1300" b="0">
                <a:solidFill>
                  <a:srgbClr val="1A1F26"/>
                </a:solidFill>
                <a:latin typeface="Calibri"/>
              </a:rPr>
              <a:t>Antibiotic — 14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291840" cy="256032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645920"/>
            <a:ext cx="3291840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920240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F1419"/>
                </a:solidFill>
                <a:latin typeface="Calibri"/>
              </a:rPr>
              <a:t>Senokot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4ADE80"/>
                </a:solidFill>
                <a:latin typeface="Calibri"/>
              </a:rPr>
              <a:t>PRN (as needed)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71767B"/>
                </a:solidFill>
                <a:latin typeface="Calibri"/>
              </a:rPr>
              <a:t>12-hour interval</a:t>
            </a:r>
          </a:p>
          <a:p>
            <a:r>
              <a:rPr sz="1300" b="0">
                <a:solidFill>
                  <a:srgbClr val="1A1F26"/>
                </a:solidFill>
                <a:latin typeface="Calibri"/>
              </a:rPr>
              <a:t>Stool softener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72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F26"/>
                </a:solidFill>
                <a:latin typeface="Calibri"/>
              </a:rPr>
              <a:t>•  Countdown timer shows time until next safe dose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F26"/>
                </a:solidFill>
                <a:latin typeface="Calibri"/>
              </a:rPr>
              <a:t>•  Progress bar fills as interval elapses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F26"/>
                </a:solidFill>
                <a:latin typeface="Calibri"/>
              </a:rPr>
              <a:t>•  "Too Early" lockout prevents accidental double-dosing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F26"/>
                </a:solidFill>
                <a:latin typeface="Calibri"/>
              </a:rPr>
              <a:t>•  "Log Dose Now" activates only when interval has passed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67B"/>
                </a:solidFill>
                <a:latin typeface="Calibri"/>
              </a:defRPr>
            </a:pPr>
            <a:r>
              <a:t>Tracie's Recovery Tracker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767B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F1419"/>
                </a:solidFill>
                <a:latin typeface="Calibri"/>
              </a:rPr>
              <a:t>History &amp; Data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71767B"/>
                </a:solidFill>
                <a:latin typeface="Calibri"/>
              </a:rPr>
              <a:t>History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F26"/>
                </a:solidFill>
                <a:latin typeface="Calibri"/>
              </a:rPr>
              <a:t>•  Daily totals broken down by drain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F26"/>
                </a:solidFill>
                <a:latin typeface="Calibri"/>
              </a:rPr>
              <a:t>•  Full chronological log of all entries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F26"/>
                </a:solidFill>
                <a:latin typeface="Calibri"/>
              </a:rPr>
              <a:t>•  Medication dose history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F26"/>
                </a:solidFill>
                <a:latin typeface="Calibri"/>
              </a:rPr>
              <a:t>•  Delete individual entries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71767B"/>
                </a:solidFill>
                <a:latin typeface="Calibri"/>
              </a:rPr>
              <a:t>Summary &amp; 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F26"/>
                </a:solidFill>
                <a:latin typeface="Calibri"/>
              </a:rPr>
              <a:t>•  Today's drain totals with per-drain breakdown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F26"/>
                </a:solidFill>
                <a:latin typeface="Calibri"/>
              </a:rPr>
              <a:t>•  CSV export (copy to clipboard)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F26"/>
                </a:solidFill>
                <a:latin typeface="Calibri"/>
              </a:rPr>
              <a:t>•  JSON backup (copy to clipboard)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F26"/>
                </a:solidFill>
                <a:latin typeface="Calibri"/>
              </a:rPr>
              <a:t>•  Print-formatted medical report for providers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0" y="1371600"/>
            <a:ext cx="0" cy="365760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828800" y="4754880"/>
            <a:ext cx="8503920" cy="9144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9BF0"/>
                </a:solidFill>
                <a:latin typeface="Calibri"/>
              </a:rPr>
              <a:t>All exports designed for easy sharing with healthcare providers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67B"/>
                </a:solidFill>
                <a:latin typeface="Calibri"/>
              </a:defRPr>
            </a:pPr>
            <a:r>
              <a:t>Tracie's Recovery Tracker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767B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F1419"/>
                </a:solidFill>
                <a:latin typeface="Calibri"/>
              </a:rPr>
              <a:t>Technical Highlights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5029200" cy="118872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1691640"/>
            <a:ext cx="182880" cy="182880"/>
          </a:xfrm>
          <a:prstGeom prst="ellipse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419"/>
                </a:solidFill>
                <a:latin typeface="Calibri"/>
              </a:rPr>
              <a:t>Offline-First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71767B"/>
                </a:solidFill>
                <a:latin typeface="Calibri"/>
              </a:rPr>
              <a:t>Service Worker caches all assets; works without internet after first 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029200" cy="118872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29400" y="1691640"/>
            <a:ext cx="182880" cy="1828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5087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419"/>
                </a:solidFill>
                <a:latin typeface="Calibri"/>
              </a:rPr>
              <a:t>Installable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92024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71767B"/>
                </a:solidFill>
                <a:latin typeface="Calibri"/>
              </a:rPr>
              <a:t>Add to Home Screen on iOS/Android; launches like a native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834640"/>
            <a:ext cx="5029200" cy="118872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3154680"/>
            <a:ext cx="182880" cy="1828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97180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419"/>
                </a:solidFill>
                <a:latin typeface="Calibri"/>
              </a:rPr>
              <a:t>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38328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71767B"/>
                </a:solidFill>
                <a:latin typeface="Calibri"/>
              </a:rPr>
              <a:t>Zero data leaves the device — no accounts, no analytics, no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834640"/>
            <a:ext cx="5029200" cy="118872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9400" y="3154680"/>
            <a:ext cx="182880" cy="182880"/>
          </a:xfrm>
          <a:prstGeom prst="ellipse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297180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419"/>
                </a:solidFill>
                <a:latin typeface="Calibri"/>
              </a:rPr>
              <a:t>Mobile-Optimized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38328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71767B"/>
                </a:solidFill>
                <a:latin typeface="Calibri"/>
              </a:rPr>
              <a:t>Safe-area insets, touch-friendly targets, dark theme for comfort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97680"/>
            <a:ext cx="5029200" cy="118872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1560" y="4617720"/>
            <a:ext cx="182880" cy="1828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43484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419"/>
                </a:solidFill>
                <a:latin typeface="Calibri"/>
              </a:rPr>
              <a:t>Zero Dependencies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8463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71767B"/>
                </a:solidFill>
                <a:latin typeface="Calibri"/>
              </a:rPr>
              <a:t>No npm, no webpack, no build process — single HTML file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297680"/>
            <a:ext cx="5029200" cy="118872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629400" y="4617720"/>
            <a:ext cx="182880" cy="1828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443484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419"/>
                </a:solidFill>
                <a:latin typeface="Calibri"/>
              </a:rPr>
              <a:t>Free Hosting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8463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71767B"/>
                </a:solidFill>
                <a:latin typeface="Calibri"/>
              </a:rPr>
              <a:t>GitHub Pages with instant 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67B"/>
                </a:solidFill>
                <a:latin typeface="Calibri"/>
              </a:defRPr>
            </a:pPr>
            <a:r>
              <a:t>Tracie's Recovery Tracker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767B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0972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292608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0F1419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71767B"/>
                </a:solidFill>
                <a:latin typeface="Calibri"/>
              </a:rPr>
              <a:t>Built with care for Tracie's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D9BF0"/>
                </a:solidFill>
                <a:latin typeface="Calibri"/>
              </a:rPr>
              <a:t>github.io/tracies-recovery-tracker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67B"/>
                </a:solidFill>
                <a:latin typeface="Calibri"/>
              </a:defRPr>
            </a:pPr>
            <a:r>
              <a:t>Tracie's Recovery Tracker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767B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